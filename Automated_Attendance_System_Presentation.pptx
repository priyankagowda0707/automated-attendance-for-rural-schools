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69" r:id="rId4"/>
    <p:sldId id="273" r:id="rId5"/>
    <p:sldId id="268" r:id="rId6"/>
    <p:sldId id="272" r:id="rId7"/>
    <p:sldId id="271" r:id="rId8"/>
    <p:sldId id="270" r:id="rId9"/>
    <p:sldId id="265" r:id="rId10"/>
    <p:sldId id="279" r:id="rId11"/>
    <p:sldId id="284" r:id="rId12"/>
    <p:sldId id="285" r:id="rId13"/>
    <p:sldId id="275" r:id="rId14"/>
    <p:sldId id="280" r:id="rId15"/>
    <p:sldId id="276" r:id="rId16"/>
    <p:sldId id="277" r:id="rId17"/>
    <p:sldId id="278" r:id="rId18"/>
    <p:sldId id="282" r:id="rId19"/>
    <p:sldId id="283" r:id="rId20"/>
    <p:sldId id="28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06EE9709-4FAF-F496-2300-5550963AEF71}"/>
            </a:ext>
          </a:extLst>
        </p:cNvPr>
        <p:cNvGrpSpPr/>
        <p:nvPr/>
      </p:nvGrpSpPr>
      <p:grpSpPr>
        <a:xfrm>
          <a:off x="0" y="0"/>
          <a:ext cx="0" cy="0"/>
          <a:chOff x="0" y="0"/>
          <a:chExt cx="0" cy="0"/>
        </a:xfrm>
      </p:grpSpPr>
      <p:sp>
        <p:nvSpPr>
          <p:cNvPr id="147" name="Google Shape;147;p11:notes">
            <a:extLst>
              <a:ext uri="{FF2B5EF4-FFF2-40B4-BE49-F238E27FC236}">
                <a16:creationId xmlns:a16="http://schemas.microsoft.com/office/drawing/2014/main" id="{81744C10-6836-EF38-3B52-D8D66DC15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a:extLst>
              <a:ext uri="{FF2B5EF4-FFF2-40B4-BE49-F238E27FC236}">
                <a16:creationId xmlns:a16="http://schemas.microsoft.com/office/drawing/2014/main" id="{506C6028-8367-4749-1EA4-6225CC886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1693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github.com/Priyankagowda0707/Udyog_Saarthi-PW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mospi.gov.in/sites/default/files/publication_reports/Report_583_Final_0.pdf" TargetMode="External"/><Relationship Id="rId4" Type="http://schemas.openxmlformats.org/officeDocument/2006/relationships/hyperlink" Target="https://www.indiacode.nic.in/bitstream/123456789/15939/1/the_rights_of_persons_with_disabilities_act%2C_2016.pdf" TargetMode="External"/><Relationship Id="rId5" Type="http://schemas.openxmlformats.org/officeDocument/2006/relationships/hyperlink" Target="https://www.who.int/teams/noncommunicable-diseases/sensory-functions-disability-and-rehabilitation/global-report-on-health-equity-for-persons-with-disabilities" TargetMode="External"/><Relationship Id="rId6" Type="http://schemas.openxmlformats.org/officeDocument/2006/relationships/hyperlink" Target="https://missionspubliques.org/digital-inclusion-bridging-the-divide-with-professor-dr-dp-sharma/?lang=e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mospi.gov.in/sites/default/files/publication_reports/Report_583_Final_0.pdf" TargetMode="External"/><Relationship Id="rId3" Type="http://schemas.openxmlformats.org/officeDocument/2006/relationships/hyperlink" Target="https://www.indiacode.nic.in/bitstream/123456789/15939/1/the_rights_of_persons_with_disabilities_act%2C_2016.pdf" TargetMode="External"/><Relationship Id="rId4" Type="http://schemas.openxmlformats.org/officeDocument/2006/relationships/hyperlink" Target="https://www.who.int/teams/noncommunicable-diseases/sensory-functions-disability-and-rehabilitation/global-report-on-health-equity-for-persons-with-disabilities" TargetMode="External"/><Relationship Id="rId5" Type="http://schemas.openxmlformats.org/officeDocument/2006/relationships/hyperlink" Target="https://missionspubliques.org/digital-inclusion-bridging-the-divide-with-professor-dr-dp-sharma/?lang=en" TargetMode="External"/><Relationship Id="rId6" Type="http://schemas.openxmlformats.org/officeDocument/2006/relationships/hyperlink" Target="https://journals.sagepub.com/doi/10.1177/00187267221103529?int.sj-abstract.similar-articles.5=#:~:text=Drivers%20of%20career%20success%20among,Yehuda%20Baruch%2C%20Seeta%20Gupta%2C%202023" TargetMode="External"/><Relationship Id="rId7" Type="http://schemas.openxmlformats.org/officeDocument/2006/relationships/hyperlink" Target="https://www.academia.edu/281657/Disability_Citizenship_An_Australian_Human_Rights_Analysis_of_the_Cultural_Industries" TargetMode="External"/><Relationship Id="rId8" Type="http://schemas.openxmlformats.org/officeDocument/2006/relationships/hyperlink" Target="https://soclibrary.futa.edu.ng/books/Research%20Methods%20in%20Human%20Computer%20Interaction%20by%20Jonathan%20Lazar,%20Jinjuan%20Feng%20and%20Harry%20Hochheiser%20(Auth.)%20(z-lib.org).pdf" TargetMode="External"/><Relationship Id="rId9" Type="http://schemas.openxmlformats.org/officeDocument/2006/relationships/hyperlink" Target="https://portal.qader.org/cached_uploads/download/2018/11/27/empowerment-by-digital-media-of-people-with-disabilities-1543305157.pdf" TargetMode="External"/><Relationship Id="rId10" Type="http://schemas.openxmlformats.org/officeDocument/2006/relationships/hyperlink" Target="https://abhipedia.abhimanu.com/Article/IAS/NTAzMTU0/Challenges-faced-by-challenges-faced-by-persons-with-disabilities-PwDs-in-India-" TargetMode="External"/><Relationship Id="rId11" Type="http://schemas.openxmlformats.org/officeDocument/2006/relationships/hyperlink" Target="https://www.w3.org/TR/WCAG21/#:~:text=Abstract,is%20provided%20in%20separate%20document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r>
              <a:t>Project Title</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t>Automated Attendance System for Rural Schools</a:t>
            </a:r>
            <a:endParaRPr sz="1800" dirty="0">
              <a:latin typeface="Cambria" panose="02040503050406030204" pitchFamily="18" charset="0"/>
              <a:ea typeface="Cambria" panose="02040503050406030204" pitchFamily="18" charset="0"/>
            </a:endParaRPr>
          </a:p>
          <a:p>
            <a:pPr/>
            <a:r>
              <a:t>Using Biometrics, IoT and Edge Computing</a:t>
            </a:r>
          </a:p>
          <a:p>
            <a:pPr/>
            <a:r>
              <a:t>Department of Computer Science and Engineering</a:t>
            </a:r>
          </a:p>
          <a:p>
            <a:pPr/>
            <a:r>
              <a:t>Presidency University, Bangalore</a:t>
            </a: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Under the Supervision of,</a:t>
            </a:r>
            <a:endParaRPr sz="1800" dirty="0">
              <a:latin typeface="+mj-lt"/>
              <a:ea typeface="Cambria" panose="02040503050406030204" pitchFamily="18" charset="0"/>
            </a:endParaRPr>
          </a:p>
          <a:p>
            <a:pPr>
              <a:spcBef>
                <a:spcPts val="340"/>
              </a:spcBef>
              <a:buClr>
                <a:srgbClr val="17365D"/>
              </a:buClr>
              <a:buSzPts val="1700"/>
            </a:pPr>
            <a:r>
              <a:rPr lang="en-IN" sz="1800" b="1" dirty="0">
                <a:latin typeface="+mj-lt"/>
              </a:rPr>
              <a:t>Ms. Saiqa Khan - </a:t>
            </a:r>
            <a:r>
              <a:rPr lang="en-IN" sz="1800" b="1" dirty="0">
                <a:solidFill>
                  <a:schemeClr val="tx1"/>
                </a:solidFill>
                <a:latin typeface="+mj-lt"/>
                <a:ea typeface="Cambria" panose="02040503050406030204" pitchFamily="18" charset="0"/>
                <a:cs typeface="Verdana"/>
                <a:sym typeface="Verdana"/>
              </a:rPr>
              <a:t>Assistant Professor</a:t>
            </a:r>
            <a:endParaRPr lang="en-IN" sz="1800" dirty="0">
              <a:solidFill>
                <a:schemeClr val="tx1"/>
              </a:solidFill>
              <a:latin typeface="+mj-lt"/>
              <a:ea typeface="Cambria" panose="02040503050406030204" pitchFamily="18" charset="0"/>
            </a:endParaRPr>
          </a:p>
          <a:p>
            <a:pPr lvl="0">
              <a:spcBef>
                <a:spcPts val="340"/>
              </a:spcBef>
              <a:buClr>
                <a:srgbClr val="17365D"/>
              </a:buClr>
              <a:buSzPts val="1700"/>
            </a:pPr>
            <a:r>
              <a:rPr lang="en-IN" sz="1800" b="1" dirty="0">
                <a:latin typeface="+mj-lt"/>
              </a:rPr>
              <a:t>Mr. </a:t>
            </a:r>
            <a:r>
              <a:rPr lang="en-IN" sz="1800" b="1" dirty="0" err="1">
                <a:latin typeface="+mj-lt"/>
              </a:rPr>
              <a:t>Thatimakula</a:t>
            </a:r>
            <a:r>
              <a:rPr lang="en-IN" sz="1800" b="1" dirty="0">
                <a:latin typeface="+mj-lt"/>
              </a:rPr>
              <a:t> Saikumar – Assistant Professor</a:t>
            </a:r>
            <a:endParaRPr lang="en-IN" sz="1800" b="1"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School of Computer Science and Engineering</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Presidency University</a:t>
            </a:r>
            <a:endParaRPr sz="1800" dirty="0">
              <a:latin typeface="+mj-lt"/>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52399195"/>
              </p:ext>
            </p:extLst>
          </p:nvPr>
        </p:nvGraphicFramePr>
        <p:xfrm>
          <a:off x="553347" y="2721840"/>
          <a:ext cx="5418675" cy="30175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mj-lt"/>
                          <a:ea typeface="Bookman Old Style"/>
                          <a:cs typeface="Bookman Old Style"/>
                          <a:sym typeface="Arial"/>
                        </a:rPr>
                        <a:t>20221CSE0307</a:t>
                      </a:r>
                    </a:p>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mj-lt"/>
                          <a:ea typeface="Bookman Old Style"/>
                          <a:cs typeface="Bookman Old Style"/>
                          <a:sym typeface="Arial"/>
                        </a:rPr>
                        <a:t>20221CSE0306</a:t>
                      </a:r>
                    </a:p>
                    <a:p>
                      <a:pPr marL="0" marR="0" lvl="0" indent="0" algn="ctr" rtl="0">
                        <a:spcBef>
                          <a:spcPts val="0"/>
                        </a:spcBef>
                        <a:spcAft>
                          <a:spcPts val="0"/>
                        </a:spcAft>
                        <a:buFont typeface="+mj-lt"/>
                        <a:buNone/>
                      </a:pPr>
                      <a:r>
                        <a:rPr lang="en-US" sz="1800" b="0" i="0" u="none" strike="noStrike" cap="none" dirty="0">
                          <a:solidFill>
                            <a:schemeClr val="tx1">
                              <a:lumMod val="95000"/>
                              <a:lumOff val="5000"/>
                            </a:schemeClr>
                          </a:solidFill>
                          <a:latin typeface="+mj-lt"/>
                          <a:ea typeface="Bookman Old Style"/>
                          <a:cs typeface="Bookman Old Style"/>
                          <a:sym typeface="Arial"/>
                        </a:rPr>
                        <a:t>20221CSE0673</a:t>
                      </a:r>
                    </a:p>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i="0" u="none" strike="noStrike" cap="none" dirty="0">
                          <a:solidFill>
                            <a:schemeClr val="dk1"/>
                          </a:solidFill>
                          <a:latin typeface="+mj-lt"/>
                          <a:ea typeface="Bookman Old Style"/>
                          <a:cs typeface="Bookman Old Style"/>
                          <a:sym typeface="Arial"/>
                        </a:rPr>
                        <a:t>PRIYANKA G</a:t>
                      </a:r>
                    </a:p>
                    <a:p>
                      <a:pPr marL="0" marR="0" lvl="0" indent="0" algn="ctr" rtl="0">
                        <a:spcBef>
                          <a:spcPts val="0"/>
                        </a:spcBef>
                        <a:spcAft>
                          <a:spcPts val="0"/>
                        </a:spcAft>
                        <a:buNone/>
                      </a:pPr>
                      <a:r>
                        <a:rPr lang="en-US" sz="1800" b="0" i="0" u="none" strike="noStrike" cap="none" dirty="0">
                          <a:solidFill>
                            <a:schemeClr val="dk1"/>
                          </a:solidFill>
                          <a:latin typeface="+mj-lt"/>
                          <a:ea typeface="Bookman Old Style"/>
                          <a:cs typeface="Bookman Old Style"/>
                          <a:sym typeface="Arial"/>
                        </a:rPr>
                        <a:t>      PRIYADARSHINI</a:t>
                      </a:r>
                    </a:p>
                    <a:p>
                      <a:pPr marL="0" marR="0" lvl="0" indent="0" algn="ctr" rtl="0">
                        <a:spcBef>
                          <a:spcPts val="0"/>
                        </a:spcBef>
                        <a:spcAft>
                          <a:spcPts val="0"/>
                        </a:spcAft>
                        <a:buNone/>
                      </a:pPr>
                      <a:r>
                        <a:rPr lang="en-US" sz="1800" b="0" i="0" u="none" strike="noStrike" cap="none" dirty="0">
                          <a:solidFill>
                            <a:schemeClr val="dk1"/>
                          </a:solidFill>
                          <a:latin typeface="+mj-lt"/>
                          <a:ea typeface="Bookman Old Style"/>
                          <a:cs typeface="Bookman Old Style"/>
                          <a:sym typeface="Arial"/>
                        </a:rPr>
                        <a:t>HANSRAJ</a:t>
                      </a:r>
                    </a:p>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a:t>
            </a:r>
            <a:r>
              <a:rPr lang="en-US" sz="1800" b="1" dirty="0">
                <a:solidFill>
                  <a:schemeClr val="tx1">
                    <a:lumMod val="95000"/>
                    <a:lumOff val="5000"/>
                  </a:schemeClr>
                </a:solidFill>
                <a:latin typeface="+mj-lt"/>
                <a:ea typeface="Cambria" panose="02040503050406030204" pitchFamily="18" charset="0"/>
                <a:cs typeface="Verdana"/>
                <a:sym typeface="Verdana"/>
              </a:rPr>
              <a:t>Computer Science and Engineering</a:t>
            </a:r>
          </a:p>
          <a:p>
            <a:pPr lvl="0">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HoD: </a:t>
            </a:r>
            <a:r>
              <a:rPr lang="en-US" sz="1800" b="1" dirty="0" err="1">
                <a:solidFill>
                  <a:schemeClr val="tx1">
                    <a:lumMod val="95000"/>
                    <a:lumOff val="5000"/>
                  </a:schemeClr>
                </a:solidFill>
                <a:latin typeface="+mj-lt"/>
                <a:ea typeface="Cambria" panose="02040503050406030204" pitchFamily="18" charset="0"/>
                <a:cs typeface="Verdana"/>
                <a:sym typeface="Verdana"/>
              </a:rPr>
              <a:t>Dr.Asif</a:t>
            </a:r>
            <a:r>
              <a:rPr lang="en-US" sz="1800" b="1" dirty="0">
                <a:solidFill>
                  <a:schemeClr val="tx1">
                    <a:lumMod val="95000"/>
                    <a:lumOff val="5000"/>
                  </a:schemeClr>
                </a:solidFill>
                <a:latin typeface="+mj-lt"/>
                <a:ea typeface="Cambria" panose="02040503050406030204" pitchFamily="18" charset="0"/>
                <a:cs typeface="Verdana"/>
                <a:sym typeface="Verdana"/>
              </a:rPr>
              <a:t> Mohammed , </a:t>
            </a:r>
            <a:r>
              <a:rPr lang="en-US" sz="1800" b="1" dirty="0" err="1">
                <a:solidFill>
                  <a:schemeClr val="tx1">
                    <a:lumMod val="95000"/>
                    <a:lumOff val="5000"/>
                  </a:schemeClr>
                </a:solidFill>
                <a:latin typeface="+mj-lt"/>
                <a:ea typeface="Cambria" panose="02040503050406030204" pitchFamily="18" charset="0"/>
                <a:cs typeface="Verdana"/>
                <a:sym typeface="Verdana"/>
              </a:rPr>
              <a:t>Dr.Blessed</a:t>
            </a:r>
            <a:r>
              <a:rPr lang="en-US" sz="1800" b="1" dirty="0">
                <a:solidFill>
                  <a:schemeClr val="tx1">
                    <a:lumMod val="95000"/>
                    <a:lumOff val="5000"/>
                  </a:schemeClr>
                </a:solidFill>
                <a:latin typeface="+mj-lt"/>
                <a:ea typeface="Cambria" panose="02040503050406030204" pitchFamily="18" charset="0"/>
                <a:cs typeface="Verdana"/>
                <a:sym typeface="Verdana"/>
              </a:rPr>
              <a:t> Prince</a:t>
            </a:r>
          </a:p>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Project Coordinator: </a:t>
            </a:r>
            <a:r>
              <a:rPr lang="en-US" sz="1800" b="1" dirty="0" err="1">
                <a:solidFill>
                  <a:schemeClr val="tx1">
                    <a:lumMod val="95000"/>
                    <a:lumOff val="5000"/>
                  </a:schemeClr>
                </a:solidFill>
                <a:latin typeface="+mj-lt"/>
                <a:ea typeface="Cambria" panose="02040503050406030204" pitchFamily="18" charset="0"/>
                <a:cs typeface="Verdana"/>
                <a:sym typeface="Verdana"/>
              </a:rPr>
              <a:t>Dr.Jayavadivel</a:t>
            </a:r>
            <a:r>
              <a:rPr lang="en-US" sz="1800" b="1" dirty="0">
                <a:solidFill>
                  <a:schemeClr val="tx1">
                    <a:lumMod val="95000"/>
                    <a:lumOff val="5000"/>
                  </a:schemeClr>
                </a:solidFill>
                <a:latin typeface="+mj-lt"/>
                <a:ea typeface="Cambria" panose="02040503050406030204" pitchFamily="18" charset="0"/>
                <a:cs typeface="Verdana"/>
                <a:sym typeface="Verdana"/>
              </a:rPr>
              <a:t> Ravi , </a:t>
            </a:r>
            <a:r>
              <a:rPr lang="en-US" sz="1800" b="1" dirty="0" err="1">
                <a:solidFill>
                  <a:schemeClr val="tx1">
                    <a:lumMod val="95000"/>
                    <a:lumOff val="5000"/>
                  </a:schemeClr>
                </a:solidFill>
                <a:latin typeface="+mj-lt"/>
                <a:ea typeface="Cambria" panose="02040503050406030204" pitchFamily="18" charset="0"/>
                <a:cs typeface="Verdana"/>
                <a:sym typeface="Verdana"/>
              </a:rPr>
              <a:t>Mr.Muthuraju</a:t>
            </a:r>
            <a:r>
              <a:rPr lang="en-US" sz="1800" b="1" dirty="0">
                <a:solidFill>
                  <a:schemeClr val="tx1">
                    <a:lumMod val="95000"/>
                    <a:lumOff val="5000"/>
                  </a:schemeClr>
                </a:solidFill>
                <a:latin typeface="+mj-lt"/>
                <a:ea typeface="Cambria" panose="02040503050406030204" pitchFamily="18" charset="0"/>
                <a:cs typeface="Verdana"/>
                <a:sym typeface="Verdana"/>
              </a:rPr>
              <a:t> V</a:t>
            </a:r>
          </a:p>
          <a:p>
            <a:pPr lvl="0">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mj-lt"/>
                <a:ea typeface="Cambria" panose="02040503050406030204" pitchFamily="18" charset="0"/>
                <a:cs typeface="Verdana"/>
                <a:sym typeface="Verdana"/>
              </a:rPr>
              <a:t>Dr. </a:t>
            </a:r>
            <a:r>
              <a:rPr lang="en-US" sz="1800" b="1" i="0" u="none" strike="noStrike" cap="none" dirty="0" err="1">
                <a:solidFill>
                  <a:schemeClr val="tx1"/>
                </a:solidFill>
                <a:latin typeface="+mj-lt"/>
                <a:ea typeface="Cambria" panose="02040503050406030204" pitchFamily="18" charset="0"/>
                <a:cs typeface="Verdana"/>
                <a:sym typeface="Verdana"/>
              </a:rPr>
              <a:t>Sampath</a:t>
            </a:r>
            <a:r>
              <a:rPr lang="en-US" sz="1800" b="1" i="0" u="none" strike="noStrike" cap="none" dirty="0">
                <a:solidFill>
                  <a:schemeClr val="tx1"/>
                </a:solidFill>
                <a:latin typeface="+mj-lt"/>
                <a:ea typeface="Cambria" panose="02040503050406030204" pitchFamily="18" charset="0"/>
                <a:cs typeface="Verdana"/>
                <a:sym typeface="Verdana"/>
              </a:rPr>
              <a:t> A K , Dr. </a:t>
            </a:r>
            <a:r>
              <a:rPr lang="en-US" sz="1800" b="1" i="0" u="none" strike="noStrike" cap="none" dirty="0" err="1">
                <a:solidFill>
                  <a:schemeClr val="tx1"/>
                </a:solidFill>
                <a:latin typeface="+mj-lt"/>
                <a:ea typeface="Cambria" panose="02040503050406030204" pitchFamily="18" charset="0"/>
                <a:cs typeface="Verdana"/>
                <a:sym typeface="Verdana"/>
              </a:rPr>
              <a:t>Geetha</a:t>
            </a:r>
            <a:r>
              <a:rPr lang="en-US" sz="1800" b="1" i="0" u="none" strike="noStrike" cap="none" dirty="0">
                <a:solidFill>
                  <a:schemeClr val="tx1"/>
                </a:solidFill>
                <a:latin typeface="+mj-lt"/>
                <a:ea typeface="Cambria" panose="02040503050406030204" pitchFamily="18" charset="0"/>
                <a:cs typeface="Verdana"/>
                <a:sym typeface="Verdana"/>
              </a:rPr>
              <a:t> A </a:t>
            </a:r>
            <a:endParaRPr sz="1800" b="1" i="0" u="none" strike="noStrike" cap="none" dirty="0">
              <a:solidFill>
                <a:schemeClr val="tx1"/>
              </a:solidFill>
              <a:latin typeface="+mj-lt"/>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Abstract</a:t>
            </a:r>
          </a:p>
        </p:txBody>
      </p:sp>
      <p:sp>
        <p:nvSpPr>
          <p:cNvPr id="97" name="Google Shape;97;p14"/>
          <p:cNvSpPr txBox="1">
            <a:spLocks noGrp="1"/>
          </p:cNvSpPr>
          <p:nvPr>
            <p:ph type="body" idx="1"/>
          </p:nvPr>
        </p:nvSpPr>
        <p:spPr>
          <a:xfrm>
            <a:off x="570940" y="867267"/>
            <a:ext cx="10668000" cy="5071620"/>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Arial" panose="020B0604020202020204" pitchFamily="34" charset="0"/>
              <a:buChar char="•"/>
            </a:pPr>
            <a:r>
              <a:t>Automated attendance system designed for rural schools.</a:t>
            </a:r>
          </a:p>
          <a:p>
            <a:pPr/>
            <a:r>
              <a:t>Uses biometric fingerprint authentication to prevent proxy attendance.</a:t>
            </a:r>
          </a:p>
          <a:p>
            <a:pPr/>
            <a:r>
              <a:t>Edge computing enables offline-first operation.</a:t>
            </a:r>
          </a:p>
          <a:p>
            <a:pPr/>
            <a:r>
              <a:t>Solar-powered IoT hardware ensures reliability in low power areas.</a:t>
            </a:r>
          </a:p>
          <a:p>
            <a:pPr/>
            <a:r>
              <a:t>SMS alerts notify parents about student attendance.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Literature Survey</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t>IoT RFID attendance system – Kumar et al. (2021)</a:t>
            </a:r>
            <a:endParaRPr lang="en-US" sz="1800" b="1" dirty="0">
              <a:latin typeface="+mj-lt"/>
              <a:ea typeface="Cambria" panose="02040503050406030204" pitchFamily="18" charset="0"/>
            </a:endParaRPr>
          </a:p>
          <a:p>
            <a:pPr/>
            <a:r>
              <a:t>Biometric attendance system – Sharma &amp; Patel (2020)</a:t>
            </a:r>
          </a:p>
          <a:p>
            <a:pPr/>
            <a:r>
              <a:t>Edge computing for rural systems – Rahman et al. (2022)</a:t>
            </a:r>
          </a:p>
          <a:p>
            <a:pPr/>
            <a:r>
              <a:t>Solar powered IoT monitoring – Das &amp; Singh (2021)</a:t>
            </a:r>
          </a:p>
          <a:p>
            <a:pPr/>
            <a:r>
              <a:t>Cloud vs Edge attendance systems – Ahmed &amp; Khan (2022)</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Objectives</a:t>
            </a:r>
          </a:p>
        </p:txBody>
      </p:sp>
      <p:sp>
        <p:nvSpPr>
          <p:cNvPr id="115" name="Google Shape;115;p17"/>
          <p:cNvSpPr txBox="1">
            <a:spLocks noGrp="1"/>
          </p:cNvSpPr>
          <p:nvPr>
            <p:ph type="body" idx="1"/>
          </p:nvPr>
        </p:nvSpPr>
        <p:spPr>
          <a:xfrm>
            <a:off x="812800" y="1143000"/>
            <a:ext cx="10668000" cy="5125826"/>
          </a:xfrm>
          <a:prstGeom prst="rect">
            <a:avLst/>
          </a:prstGeom>
          <a:noFill/>
          <a:ln>
            <a:noFill/>
          </a:ln>
        </p:spPr>
        <p:txBody>
          <a:bodyPr spcFirstLastPara="1" wrap="square" lIns="91425" tIns="45700" rIns="91425" bIns="45700" anchor="t" anchorCtr="0">
            <a:noAutofit/>
          </a:bodyPr>
          <a:lstStyle/>
          <a:p>
            <a:r>
              <a:t>Prevent proxy attendance using biometric authentication.</a:t>
            </a:r>
            <a:endParaRPr lang="en-IN" sz="1600" dirty="0">
              <a:latin typeface="+mj-lt"/>
            </a:endParaRPr>
          </a:p>
          <a:p>
            <a:pPr/>
            <a:r>
              <a:t>Ensure offline-first operation using edge computing.</a:t>
            </a:r>
          </a:p>
          <a:p>
            <a:pPr/>
            <a:r>
              <a:t>Reduce infrastructure dependency using solar power.</a:t>
            </a:r>
          </a:p>
          <a:p>
            <a:pPr/>
            <a:r>
              <a:t>Increase parent engagement through SMS notifications.</a:t>
            </a:r>
          </a:p>
          <a:p>
            <a:pPr/>
            <a:r>
              <a:t>Provide low bandwidth synchronization for rural networks.</a:t>
            </a: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Existing Methods &amp; Drawbacks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t>Manual attendance is time-consuming and error-prone.</a:t>
            </a:r>
            <a:endParaRPr lang="en-US" dirty="0">
              <a:latin typeface="Cambria" panose="02040503050406030204" pitchFamily="18" charset="0"/>
              <a:ea typeface="Cambria" panose="02040503050406030204" pitchFamily="18" charset="0"/>
            </a:endParaRPr>
          </a:p>
          <a:p>
            <a:pPr/>
            <a:r>
              <a:t>RFID systems allow proxy attendance.</a:t>
            </a:r>
          </a:p>
          <a:p>
            <a:pPr/>
            <a:r>
              <a:t>Cloud-based biometrics require stable internet.</a:t>
            </a:r>
          </a:p>
          <a:p>
            <a:pPr/>
            <a:r>
              <a:t>Mobile apps require smartphones and connectivity.</a:t>
            </a:r>
          </a:p>
          <a:p>
            <a:pPr/>
            <a:r>
              <a:t>Rural infrastructure limitations reduce system reliability.</a:t>
            </a: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lvl="0"/>
            <a:r>
              <a:rPr lang="en-US" sz="1800" i="1" dirty="0">
                <a:latin typeface="+mj-lt"/>
              </a:rPr>
              <a:t>To develop an accessible PWA</a:t>
            </a:r>
            <a:r>
              <a:rPr lang="en-US" sz="1800" dirty="0">
                <a:latin typeface="+mj-lt"/>
              </a:rPr>
              <a:t> that provides curated job information tailored for </a:t>
            </a:r>
            <a:r>
              <a:rPr lang="en-US" sz="1800" dirty="0" err="1">
                <a:latin typeface="+mj-lt"/>
              </a:rPr>
              <a:t>PwDs</a:t>
            </a:r>
            <a:r>
              <a:rPr lang="en-US" sz="1800" dirty="0">
                <a:latin typeface="+mj-lt"/>
              </a:rPr>
              <a:t>, featuring simplified language, text-to-speech, and a screen-reader friendly interface.</a:t>
            </a:r>
          </a:p>
          <a:p>
            <a:pPr lvl="0"/>
            <a:endParaRPr lang="en-IN" sz="1800" dirty="0">
              <a:latin typeface="+mj-lt"/>
            </a:endParaRPr>
          </a:p>
          <a:p>
            <a:pPr lvl="0"/>
            <a:r>
              <a:rPr lang="en-US" sz="1800" i="1" dirty="0">
                <a:latin typeface="+mj-lt"/>
              </a:rPr>
              <a:t>To enhance the employability of users</a:t>
            </a:r>
            <a:r>
              <a:rPr lang="en-US" sz="1800" dirty="0">
                <a:latin typeface="+mj-lt"/>
              </a:rPr>
              <a:t> by integrating coaching modules, mock tests, and guidance on application processes within the platform.</a:t>
            </a:r>
          </a:p>
          <a:p>
            <a:pPr lvl="0"/>
            <a:endParaRPr lang="en-IN" sz="1800" dirty="0">
              <a:latin typeface="+mj-lt"/>
            </a:endParaRPr>
          </a:p>
          <a:p>
            <a:pPr lvl="0"/>
            <a:r>
              <a:rPr lang="en-US" sz="1800" i="1" dirty="0">
                <a:latin typeface="+mj-lt"/>
              </a:rPr>
              <a:t>To increase awareness and utilization</a:t>
            </a:r>
            <a:r>
              <a:rPr lang="en-US" sz="1800" dirty="0">
                <a:latin typeface="+mj-lt"/>
              </a:rPr>
              <a:t> of the 4% job reservation policy for </a:t>
            </a:r>
            <a:r>
              <a:rPr lang="en-US" sz="1800" dirty="0" err="1">
                <a:latin typeface="+mj-lt"/>
              </a:rPr>
              <a:t>PwDs</a:t>
            </a:r>
            <a:r>
              <a:rPr lang="en-US" sz="1800" dirty="0">
                <a:latin typeface="+mj-lt"/>
              </a:rPr>
              <a:t> by implementing specific filters and dedicated information sections.</a:t>
            </a:r>
          </a:p>
          <a:p>
            <a:pPr lvl="0"/>
            <a:endParaRPr lang="en-IN" sz="1800" dirty="0">
              <a:latin typeface="+mj-lt"/>
            </a:endParaRPr>
          </a:p>
          <a:p>
            <a:pPr lvl="0"/>
            <a:r>
              <a:rPr lang="en-US" sz="1800" i="1" dirty="0">
                <a:latin typeface="+mj-lt"/>
              </a:rPr>
              <a:t>To bridge the communication gap</a:t>
            </a:r>
            <a:r>
              <a:rPr lang="en-US" sz="1800" dirty="0">
                <a:latin typeface="+mj-lt"/>
              </a:rPr>
              <a:t> by providing a platform for parents/guardians to track opportunities and their ward's progress, addressing literacy barriers.</a:t>
            </a:r>
          </a:p>
          <a:p>
            <a:pPr lvl="0"/>
            <a:endParaRPr lang="en-IN" sz="1800" dirty="0">
              <a:latin typeface="+mj-lt"/>
            </a:endParaRPr>
          </a:p>
          <a:p>
            <a:pPr lvl="0"/>
            <a:r>
              <a:rPr lang="en-US" sz="1800" i="1" dirty="0">
                <a:latin typeface="+mj-lt"/>
              </a:rPr>
              <a:t>To ensure wide accessibility</a:t>
            </a:r>
            <a:r>
              <a:rPr lang="en-US" sz="1800" dirty="0">
                <a:latin typeface="+mj-lt"/>
              </a:rPr>
              <a:t> by deploying a low-data usage PWA compatible with various devices (desktops, smartphones, tablets), especially in semi-urban and rural areas.</a:t>
            </a:r>
            <a:endParaRPr lang="en-IN" sz="1800" dirty="0">
              <a:latin typeface="+mj-lt"/>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Proposed Method</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a:lnSpc>
                <a:spcPct val="120000"/>
              </a:lnSpc>
            </a:pPr>
            <a:r>
              <a:t>Offline-first attendance architecture.</a:t>
            </a:r>
          </a:p>
          <a:p>
            <a:pPr/>
            <a:r>
              <a:t>Biometric fingerprint authentication.</a:t>
            </a:r>
          </a:p>
          <a:p>
            <a:pPr/>
            <a:r>
              <a:t>Edge computing for local processing.</a:t>
            </a:r>
          </a:p>
          <a:p>
            <a:pPr/>
            <a:r>
              <a:t>Solar powered IoT device support.</a:t>
            </a:r>
          </a:p>
          <a:p>
            <a:pPr/>
            <a:r>
              <a:t>SMS notifications for parents.</a:t>
            </a: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System Architecture</a:t>
            </a:r>
          </a:p>
        </p:txBody>
      </p:sp>
      <p:sp>
        <p:nvSpPr>
          <p:cNvPr id="115" name="Google Shape;115;p17"/>
          <p:cNvSpPr txBox="1">
            <a:spLocks noGrp="1"/>
          </p:cNvSpPr>
          <p:nvPr>
            <p:ph type="body" idx="1"/>
          </p:nvPr>
        </p:nvSpPr>
        <p:spPr>
          <a:xfrm>
            <a:off x="605410" y="850769"/>
            <a:ext cx="10668000" cy="7246856"/>
          </a:xfrm>
          <a:prstGeom prst="rect">
            <a:avLst/>
          </a:prstGeom>
          <a:noFill/>
          <a:ln>
            <a:noFill/>
          </a:ln>
        </p:spPr>
        <p:txBody>
          <a:bodyPr spcFirstLastPara="1" wrap="square" lIns="91425" tIns="45700" rIns="91425" bIns="45700" anchor="t" anchorCtr="0">
            <a:noAutofit/>
          </a:bodyPr>
          <a:lstStyle/>
          <a:p>
            <a:pPr marL="76200" indent="0">
              <a:buNone/>
            </a:pPr>
            <a:r>
              <a:t>Presentation Layer: React.js Progressive Web App.</a:t>
            </a:r>
          </a:p>
          <a:p>
            <a:pPr/>
            <a:r>
              <a:t>Application Layer: Node.js and Express backend.</a:t>
            </a:r>
          </a:p>
          <a:p>
            <a:pPr/>
            <a:r>
              <a:t>Data Layer: MongoDB database.</a:t>
            </a:r>
          </a:p>
          <a:p>
            <a:pPr/>
            <a:r>
              <a:t>Cloud hosting using AWS or GCP.</a:t>
            </a:r>
          </a:p>
          <a:p>
            <a:pPr/>
            <a:r>
              <a:t>Secure authentication using JWT.</a:t>
            </a: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Modules</a:t>
            </a:r>
          </a:p>
        </p:txBody>
      </p:sp>
      <p:sp>
        <p:nvSpPr>
          <p:cNvPr id="115" name="Google Shape;115;p17"/>
          <p:cNvSpPr txBox="1">
            <a:spLocks noGrp="1"/>
          </p:cNvSpPr>
          <p:nvPr>
            <p:ph type="body" idx="1"/>
          </p:nvPr>
        </p:nvSpPr>
        <p:spPr>
          <a:xfrm>
            <a:off x="812800" y="1039306"/>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t>User Authentication Module</a:t>
            </a:r>
            <a:endParaRPr dirty="0">
              <a:latin typeface="Cambria" panose="02040503050406030204" pitchFamily="18" charset="0"/>
              <a:ea typeface="Cambria" panose="02040503050406030204" pitchFamily="18" charset="0"/>
            </a:endParaRPr>
          </a:p>
          <a:p>
            <a:pPr/>
            <a:r>
              <a:t>Student &amp; Staff Management Module</a:t>
            </a:r>
          </a:p>
          <a:p>
            <a:pPr/>
            <a:r>
              <a:t>Attendance Management Module</a:t>
            </a:r>
          </a:p>
          <a:p>
            <a:pPr/>
            <a:r>
              <a:t>Analytics and Reporting Module</a:t>
            </a:r>
          </a:p>
          <a:p>
            <a:pPr/>
            <a:r>
              <a:t>Notification and Alert Module</a:t>
            </a:r>
          </a:p>
          <a:p>
            <a:pPr/>
            <a:r>
              <a:t>Admin Control Module</a:t>
            </a:r>
          </a:p>
        </p:txBody>
      </p:sp>
      <p:pic>
        <p:nvPicPr>
          <p:cNvPr id="4" name="Picture 3">
            <a:extLst>
              <a:ext uri="{FF2B5EF4-FFF2-40B4-BE49-F238E27FC236}">
                <a16:creationId xmlns:a16="http://schemas.microsoft.com/office/drawing/2014/main" id="{6583A436-52AF-1055-FA9D-52AECDDCD9CD}"/>
              </a:ext>
            </a:extLst>
          </p:cNvPr>
          <p:cNvPicPr>
            <a:picLocks noChangeAspect="1"/>
          </p:cNvPicPr>
          <p:nvPr/>
        </p:nvPicPr>
        <p:blipFill>
          <a:blip r:embed="rId3"/>
          <a:stretch>
            <a:fillRect/>
          </a:stretch>
        </p:blipFill>
        <p:spPr>
          <a:xfrm>
            <a:off x="952500" y="948180"/>
            <a:ext cx="9841191" cy="5044126"/>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t>Timeline</a:t>
            </a: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r>
              <a:t>Requirement Analysis</a:t>
            </a:r>
          </a:p>
          <a:p>
            <a:pPr/>
            <a:r>
              <a:t>System Design</a:t>
            </a:r>
          </a:p>
          <a:p>
            <a:pPr/>
            <a:r>
              <a:t>Frontend Development</a:t>
            </a:r>
          </a:p>
          <a:p>
            <a:pPr/>
            <a:r>
              <a:t>Backend Development</a:t>
            </a:r>
          </a:p>
          <a:p>
            <a:pPr/>
            <a:r>
              <a:t>Testing and Integration</a:t>
            </a:r>
          </a:p>
          <a:p>
            <a:pPr/>
            <a:r>
              <a:t>Final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49A5-6ADC-2BCB-5706-768A919F427E}"/>
              </a:ext>
            </a:extLst>
          </p:cNvPr>
          <p:cNvSpPr>
            <a:spLocks noGrp="1"/>
          </p:cNvSpPr>
          <p:nvPr>
            <p:ph type="title"/>
          </p:nvPr>
        </p:nvSpPr>
        <p:spPr/>
        <p:txBody>
          <a:bodyPr/>
          <a:lstStyle/>
          <a:p>
            <a:r>
              <a:t>Hardware &amp; Software</a:t>
            </a:r>
          </a:p>
        </p:txBody>
      </p:sp>
      <p:sp>
        <p:nvSpPr>
          <p:cNvPr id="3" name="Text Placeholder 2">
            <a:extLst>
              <a:ext uri="{FF2B5EF4-FFF2-40B4-BE49-F238E27FC236}">
                <a16:creationId xmlns:a16="http://schemas.microsoft.com/office/drawing/2014/main" id="{2D0FFDCA-165A-0D73-C8A8-3BB2F1E84C32}"/>
              </a:ext>
            </a:extLst>
          </p:cNvPr>
          <p:cNvSpPr>
            <a:spLocks noGrp="1"/>
          </p:cNvSpPr>
          <p:nvPr>
            <p:ph type="body" idx="1"/>
          </p:nvPr>
        </p:nvSpPr>
        <p:spPr>
          <a:xfrm>
            <a:off x="762000" y="952500"/>
            <a:ext cx="10668000" cy="5231484"/>
          </a:xfrm>
        </p:spPr>
        <p:txBody>
          <a:bodyPr>
            <a:noAutofit/>
          </a:bodyPr>
          <a:lstStyle/>
          <a:p>
            <a:pPr marL="419100" lvl="0" indent="-342900">
              <a:buFont typeface="+mj-lt"/>
              <a:buAutoNum type="arabicPeriod"/>
            </a:pPr>
            <a:r>
              <a:t>Frontend: React.js, Tailwind CSS, Shadcn UI</a:t>
            </a:r>
            <a:endParaRPr lang="en-IN" sz="1800" dirty="0">
              <a:latin typeface="+mj-lt"/>
            </a:endParaRPr>
          </a:p>
          <a:p>
            <a:pPr/>
            <a:r>
              <a:t>Backend: Node.js, Express.js</a:t>
            </a:r>
          </a:p>
          <a:p>
            <a:pPr/>
            <a:r>
              <a:t>Database: PostgreSQL / MongoDB</a:t>
            </a:r>
          </a:p>
          <a:p>
            <a:pPr/>
            <a:r>
              <a:t>Authentication: JWT</a:t>
            </a:r>
          </a:p>
          <a:p>
            <a:pPr/>
            <a:r>
              <a:t>Tools: VS Code, Postman, GitHub</a:t>
            </a:r>
          </a:p>
        </p:txBody>
      </p:sp>
      <p:pic>
        <p:nvPicPr>
          <p:cNvPr id="5" name="Picture 4">
            <a:extLst>
              <a:ext uri="{FF2B5EF4-FFF2-40B4-BE49-F238E27FC236}">
                <a16:creationId xmlns:a16="http://schemas.microsoft.com/office/drawing/2014/main" id="{1B193366-8D5D-D273-835B-48AC3AD34BA5}"/>
              </a:ext>
            </a:extLst>
          </p:cNvPr>
          <p:cNvPicPr>
            <a:picLocks noChangeAspect="1"/>
          </p:cNvPicPr>
          <p:nvPr/>
        </p:nvPicPr>
        <p:blipFill>
          <a:blip r:embed="rId2"/>
          <a:stretch>
            <a:fillRect/>
          </a:stretch>
        </p:blipFill>
        <p:spPr>
          <a:xfrm>
            <a:off x="2856322" y="952501"/>
            <a:ext cx="6175342" cy="5421846"/>
          </a:xfrm>
          <a:prstGeom prst="rect">
            <a:avLst/>
          </a:prstGeom>
        </p:spPr>
      </p:pic>
    </p:spTree>
    <p:extLst>
      <p:ext uri="{BB962C8B-B14F-4D97-AF65-F5344CB8AC3E}">
        <p14:creationId xmlns:p14="http://schemas.microsoft.com/office/powerpoint/2010/main" val="13821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5F50F-314D-B17C-9233-0D40D274B6C9}"/>
              </a:ext>
            </a:extLst>
          </p:cNvPr>
          <p:cNvSpPr>
            <a:spLocks noGrp="1"/>
          </p:cNvSpPr>
          <p:nvPr>
            <p:ph type="title"/>
          </p:nvPr>
        </p:nvSpPr>
        <p:spPr/>
        <p:txBody>
          <a:bodyPr/>
          <a:lstStyle/>
          <a:p>
            <a:r>
              <a:t>Conclusion</a:t>
            </a:r>
          </a:p>
        </p:txBody>
      </p:sp>
      <p:sp>
        <p:nvSpPr>
          <p:cNvPr id="3" name="Text Placeholder 2">
            <a:extLst>
              <a:ext uri="{FF2B5EF4-FFF2-40B4-BE49-F238E27FC236}">
                <a16:creationId xmlns:a16="http://schemas.microsoft.com/office/drawing/2014/main" id="{64372A8C-AA69-CC97-8D83-8DEA4A8BD669}"/>
              </a:ext>
            </a:extLst>
          </p:cNvPr>
          <p:cNvSpPr>
            <a:spLocks noGrp="1"/>
          </p:cNvSpPr>
          <p:nvPr>
            <p:ph type="body" idx="1"/>
          </p:nvPr>
        </p:nvSpPr>
        <p:spPr/>
        <p:txBody>
          <a:bodyPr/>
          <a:lstStyle/>
          <a:p>
            <a:r>
              <a:t>Biometric and IoT based attendance improves accuracy.</a:t>
            </a:r>
            <a:endParaRPr lang="en-IN" dirty="0"/>
          </a:p>
          <a:p>
            <a:pPr/>
            <a:r>
              <a:t>Edge computing enables offline operation.</a:t>
            </a:r>
          </a:p>
          <a:p>
            <a:pPr/>
            <a:r>
              <a:t>Solar power supports rural deployment.</a:t>
            </a:r>
          </a:p>
          <a:p>
            <a:pPr/>
            <a:r>
              <a:t>SMS notifications increase parental involvement.</a:t>
            </a:r>
          </a:p>
          <a:p>
            <a:pPr/>
            <a:r>
              <a:t>System improves transparency and education monitoring.</a:t>
            </a:r>
          </a:p>
        </p:txBody>
      </p:sp>
      <p:pic>
        <p:nvPicPr>
          <p:cNvPr id="5" name="Picture 4">
            <a:extLst>
              <a:ext uri="{FF2B5EF4-FFF2-40B4-BE49-F238E27FC236}">
                <a16:creationId xmlns:a16="http://schemas.microsoft.com/office/drawing/2014/main" id="{E0B4B18B-664F-7406-3EAD-18FD1CE7326C}"/>
              </a:ext>
            </a:extLst>
          </p:cNvPr>
          <p:cNvPicPr>
            <a:picLocks noChangeAspect="1"/>
          </p:cNvPicPr>
          <p:nvPr/>
        </p:nvPicPr>
        <p:blipFill>
          <a:blip r:embed="rId2"/>
          <a:stretch>
            <a:fillRect/>
          </a:stretch>
        </p:blipFill>
        <p:spPr>
          <a:xfrm>
            <a:off x="812800" y="1143000"/>
            <a:ext cx="10423951" cy="4748753"/>
          </a:xfrm>
          <a:prstGeom prst="rect">
            <a:avLst/>
          </a:prstGeom>
        </p:spPr>
      </p:pic>
    </p:spTree>
    <p:extLst>
      <p:ext uri="{BB962C8B-B14F-4D97-AF65-F5344CB8AC3E}">
        <p14:creationId xmlns:p14="http://schemas.microsoft.com/office/powerpoint/2010/main" val="3509836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650A1-A46B-E1BA-02DE-32A8BF553287}"/>
              </a:ext>
            </a:extLst>
          </p:cNvPr>
          <p:cNvSpPr>
            <a:spLocks noGrp="1"/>
          </p:cNvSpPr>
          <p:nvPr>
            <p:ph type="title"/>
          </p:nvPr>
        </p:nvSpPr>
        <p:spPr/>
        <p:txBody>
          <a:bodyPr/>
          <a:lstStyle/>
          <a:p>
            <a:r>
              <a:rPr lang="en-IN" dirty="0"/>
              <a:t>Ui/</a:t>
            </a:r>
            <a:r>
              <a:rPr lang="en-IN"/>
              <a:t>ux</a:t>
            </a:r>
          </a:p>
        </p:txBody>
      </p:sp>
      <p:sp>
        <p:nvSpPr>
          <p:cNvPr id="3" name="Text Placeholder 2">
            <a:extLst>
              <a:ext uri="{FF2B5EF4-FFF2-40B4-BE49-F238E27FC236}">
                <a16:creationId xmlns:a16="http://schemas.microsoft.com/office/drawing/2014/main" id="{2309AD2D-6CB1-F6FB-02F6-9DE45F85971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20D0C1A-6CD0-DB4D-A876-88FE5CB36BCF}"/>
              </a:ext>
            </a:extLst>
          </p:cNvPr>
          <p:cNvPicPr>
            <a:picLocks noChangeAspect="1"/>
          </p:cNvPicPr>
          <p:nvPr/>
        </p:nvPicPr>
        <p:blipFill>
          <a:blip r:embed="rId2"/>
          <a:stretch>
            <a:fillRect/>
          </a:stretch>
        </p:blipFill>
        <p:spPr>
          <a:xfrm>
            <a:off x="886120" y="1143000"/>
            <a:ext cx="10594680" cy="4953001"/>
          </a:xfrm>
          <a:prstGeom prst="rect">
            <a:avLst/>
          </a:prstGeom>
        </p:spPr>
      </p:pic>
    </p:spTree>
    <p:extLst>
      <p:ext uri="{BB962C8B-B14F-4D97-AF65-F5344CB8AC3E}">
        <p14:creationId xmlns:p14="http://schemas.microsoft.com/office/powerpoint/2010/main" val="283472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293B-831B-8CC3-D881-84AFB0DF7140}"/>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09601489-9BF4-9780-4CF4-F9A06B12507B}"/>
              </a:ext>
            </a:extLst>
          </p:cNvPr>
          <p:cNvSpPr>
            <a:spLocks noGrp="1"/>
          </p:cNvSpPr>
          <p:nvPr>
            <p:ph type="body" idx="1"/>
          </p:nvPr>
        </p:nvSpPr>
        <p:spPr/>
        <p:txBody>
          <a:bodyPr>
            <a:normAutofit/>
          </a:bodyPr>
          <a:lstStyle/>
          <a:p>
            <a:pPr lvl="0"/>
            <a:r>
              <a:rPr lang="en-US" sz="1800" u="sng" dirty="0">
                <a:latin typeface="+mj-lt"/>
              </a:rPr>
              <a:t>User Authentication Module: </a:t>
            </a:r>
            <a:r>
              <a:rPr lang="en-US" sz="1800" dirty="0">
                <a:latin typeface="+mj-lt"/>
              </a:rPr>
              <a:t>Handles secure registration and login for </a:t>
            </a:r>
            <a:r>
              <a:rPr lang="en-US" sz="1800" dirty="0" err="1">
                <a:latin typeface="+mj-lt"/>
              </a:rPr>
              <a:t>PwDs</a:t>
            </a:r>
            <a:r>
              <a:rPr lang="en-US" sz="1800" dirty="0">
                <a:latin typeface="+mj-lt"/>
              </a:rPr>
              <a:t> and Guardians using JWT.</a:t>
            </a:r>
            <a:endParaRPr lang="en-IN" sz="1800" dirty="0">
              <a:latin typeface="+mj-lt"/>
            </a:endParaRPr>
          </a:p>
          <a:p>
            <a:pPr lvl="0"/>
            <a:r>
              <a:rPr lang="en-US" sz="1800" u="sng" dirty="0">
                <a:latin typeface="+mj-lt"/>
              </a:rPr>
              <a:t>Profile Management Module:</a:t>
            </a:r>
            <a:r>
              <a:rPr lang="en-US" sz="1800" dirty="0">
                <a:latin typeface="+mj-lt"/>
              </a:rPr>
              <a:t> Allows users to create and manage their profiles, specifying disability type, skills, and job preferences.</a:t>
            </a:r>
            <a:endParaRPr lang="en-IN" sz="1800" dirty="0">
              <a:latin typeface="+mj-lt"/>
            </a:endParaRPr>
          </a:p>
          <a:p>
            <a:pPr lvl="0"/>
            <a:r>
              <a:rPr lang="en-US" sz="1800" u="sng" dirty="0">
                <a:latin typeface="+mj-lt"/>
              </a:rPr>
              <a:t>Job Search &amp; Listing Module:</a:t>
            </a:r>
            <a:r>
              <a:rPr lang="en-US" sz="1800" dirty="0">
                <a:latin typeface="+mj-lt"/>
              </a:rPr>
              <a:t> The core module to browse, search, and filter job opportunities specifically based on reservation categories and disability type.</a:t>
            </a:r>
            <a:endParaRPr lang="en-IN" sz="1800" dirty="0">
              <a:latin typeface="+mj-lt"/>
            </a:endParaRPr>
          </a:p>
          <a:p>
            <a:pPr lvl="0"/>
            <a:r>
              <a:rPr lang="en-US" sz="1800" u="sng" dirty="0">
                <a:latin typeface="+mj-lt"/>
              </a:rPr>
              <a:t>Training &amp; Coaching Module:</a:t>
            </a:r>
            <a:r>
              <a:rPr lang="en-US" sz="1800" dirty="0">
                <a:latin typeface="+mj-lt"/>
              </a:rPr>
              <a:t> Provides access to skill development videos, mock tests, and application guidance resources.</a:t>
            </a:r>
            <a:endParaRPr lang="en-IN" sz="1800" dirty="0">
              <a:latin typeface="+mj-lt"/>
            </a:endParaRPr>
          </a:p>
          <a:p>
            <a:pPr lvl="0"/>
            <a:r>
              <a:rPr lang="en-US" sz="1800" u="sng" dirty="0">
                <a:latin typeface="+mj-lt"/>
              </a:rPr>
              <a:t>Accessibility Module:</a:t>
            </a:r>
            <a:r>
              <a:rPr lang="en-US" sz="1800" dirty="0">
                <a:latin typeface="+mj-lt"/>
              </a:rPr>
              <a:t> Integrates TTS functionality, language selection, and ensures UI compliance with accessibility standards.</a:t>
            </a:r>
            <a:endParaRPr lang="en-IN" sz="1800" dirty="0">
              <a:latin typeface="+mj-lt"/>
            </a:endParaRPr>
          </a:p>
          <a:p>
            <a:pPr lvl="0"/>
            <a:r>
              <a:rPr lang="en-US" sz="1800" u="sng" dirty="0">
                <a:latin typeface="+mj-lt"/>
              </a:rPr>
              <a:t>Notification Module:</a:t>
            </a:r>
            <a:r>
              <a:rPr lang="en-US" sz="1800" dirty="0">
                <a:latin typeface="+mj-lt"/>
              </a:rPr>
              <a:t> Alerts users and guardians about new job postings, application deadlines, and new training content.</a:t>
            </a:r>
            <a:endParaRPr lang="en-IN" sz="1800" dirty="0">
              <a:latin typeface="+mj-lt"/>
            </a:endParaRPr>
          </a:p>
          <a:p>
            <a:pPr lvl="0"/>
            <a:r>
              <a:rPr lang="en-US" sz="1800" u="sng" dirty="0">
                <a:latin typeface="+mj-lt"/>
              </a:rPr>
              <a:t>Admin Portal Module:</a:t>
            </a:r>
            <a:r>
              <a:rPr lang="en-US" sz="1800" dirty="0">
                <a:latin typeface="+mj-lt"/>
              </a:rPr>
              <a:t> Allows the admin to post new jobs, manage training content, and oversee user accounts.</a:t>
            </a:r>
            <a:endParaRPr lang="en-IN" sz="1800" dirty="0">
              <a:latin typeface="+mj-lt"/>
            </a:endParaRPr>
          </a:p>
          <a:p>
            <a:endParaRPr lang="en-IN" sz="1800" dirty="0">
              <a:latin typeface="+mj-lt"/>
            </a:endParaRPr>
          </a:p>
        </p:txBody>
      </p:sp>
    </p:spTree>
    <p:extLst>
      <p:ext uri="{BB962C8B-B14F-4D97-AF65-F5344CB8AC3E}">
        <p14:creationId xmlns:p14="http://schemas.microsoft.com/office/powerpoint/2010/main" val="28280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33E7B-5F0F-6913-329E-A0B82DC2D6D2}"/>
              </a:ext>
            </a:extLst>
          </p:cNvPr>
          <p:cNvSpPr>
            <a:spLocks noGrp="1"/>
          </p:cNvSpPr>
          <p:nvPr>
            <p:ph type="title"/>
          </p:nvPr>
        </p:nvSpPr>
        <p:spPr>
          <a:xfrm>
            <a:off x="812800" y="546754"/>
            <a:ext cx="10668000" cy="215383"/>
          </a:xfrm>
        </p:spPr>
        <p:txBody>
          <a:bodyPr/>
          <a:lstStyle/>
          <a:p>
            <a:r>
              <a:rPr lang="en-US" dirty="0">
                <a:ea typeface="Cambria" panose="02040503050406030204" pitchFamily="18" charset="0"/>
              </a:rPr>
              <a:t>Background and Related work for title Selection</a:t>
            </a:r>
            <a:br>
              <a:rPr lang="en-US" dirty="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E506CDC8-73D3-7B0E-E404-5A08B9FF9BFD}"/>
              </a:ext>
            </a:extLst>
          </p:cNvPr>
          <p:cNvSpPr>
            <a:spLocks noGrp="1"/>
          </p:cNvSpPr>
          <p:nvPr>
            <p:ph type="body" idx="1"/>
          </p:nvPr>
        </p:nvSpPr>
        <p:spPr/>
        <p:txBody>
          <a:bodyPr>
            <a:noAutofit/>
          </a:bodyPr>
          <a:lstStyle/>
          <a:p>
            <a:pPr marL="76200" indent="0">
              <a:buNone/>
            </a:pPr>
            <a:r>
              <a:rPr lang="en-US" sz="1600" b="1" dirty="0"/>
              <a:t>Background</a:t>
            </a:r>
            <a:endParaRPr lang="en-US" sz="1600" dirty="0"/>
          </a:p>
          <a:p>
            <a:r>
              <a:rPr lang="en-US" sz="1600" dirty="0"/>
              <a:t>In India, 64% of Persons with Disabilities (PwDs) are unemployed.</a:t>
            </a:r>
          </a:p>
          <a:p>
            <a:r>
              <a:rPr lang="en-US" sz="1600" dirty="0"/>
              <a:t>The government has a 4% job reservation for PwDs, but many still miss out.</a:t>
            </a:r>
          </a:p>
          <a:p>
            <a:r>
              <a:rPr lang="en-US" sz="1600" dirty="0"/>
              <a:t>Main reasons: lack of awareness, hard-to-read job information, low digital skills, and late updates.</a:t>
            </a:r>
          </a:p>
          <a:p>
            <a:r>
              <a:rPr lang="en-US" sz="1600" dirty="0"/>
              <a:t>Current job platforms are not fully accessible for PwDs, especially in D &amp; E categories.</a:t>
            </a:r>
          </a:p>
          <a:p>
            <a:endParaRPr lang="en-US" sz="1600" dirty="0"/>
          </a:p>
          <a:p>
            <a:pPr marL="76200" indent="0">
              <a:buNone/>
            </a:pPr>
            <a:r>
              <a:rPr lang="en-US" sz="1600" b="1" dirty="0"/>
              <a:t>Related Work</a:t>
            </a:r>
            <a:endParaRPr lang="en-US" sz="1600" dirty="0"/>
          </a:p>
          <a:p>
            <a:r>
              <a:rPr lang="en-US" sz="1600" u="sng" dirty="0"/>
              <a:t>Employment News Online </a:t>
            </a:r>
            <a:r>
              <a:rPr lang="en-US" sz="1600" dirty="0"/>
              <a:t>– Shares jobs but no audio or simple language support.</a:t>
            </a:r>
          </a:p>
          <a:p>
            <a:r>
              <a:rPr lang="en-US" sz="1600" u="sng" dirty="0"/>
              <a:t>National Career Service (NCS) Portal </a:t>
            </a:r>
            <a:r>
              <a:rPr lang="en-US" sz="1600" dirty="0"/>
              <a:t>– Has job listings but not </a:t>
            </a:r>
            <a:r>
              <a:rPr lang="en-US" sz="1600" dirty="0" err="1"/>
              <a:t>PwD</a:t>
            </a:r>
            <a:r>
              <a:rPr lang="en-US" sz="1600" dirty="0"/>
              <a:t>-friendly.</a:t>
            </a:r>
          </a:p>
          <a:p>
            <a:r>
              <a:rPr lang="en-US" sz="1600" u="sng" dirty="0"/>
              <a:t>NGO Training Apps </a:t>
            </a:r>
            <a:r>
              <a:rPr lang="en-US" sz="1600" dirty="0"/>
              <a:t>– Teach skills but do not connect directly to government job updates.</a:t>
            </a:r>
          </a:p>
          <a:p>
            <a:endParaRPr lang="en-US" sz="1600" dirty="0"/>
          </a:p>
          <a:p>
            <a:pPr marL="76200" indent="0">
              <a:buNone/>
            </a:pPr>
            <a:r>
              <a:rPr lang="en-US" sz="1600" b="1" dirty="0"/>
              <a:t>Key Need</a:t>
            </a:r>
          </a:p>
          <a:p>
            <a:pPr marL="76200" indent="0">
              <a:buNone/>
            </a:pPr>
            <a:r>
              <a:rPr lang="en-US" sz="1600" dirty="0"/>
              <a:t>A single, easy-to-use platform with job info, training details, real-time alerts, and offline access for PwDs.</a:t>
            </a:r>
          </a:p>
          <a:p>
            <a:pPr marL="342900" lvl="0" indent="-190500" algn="just">
              <a:spcBef>
                <a:spcPts val="0"/>
              </a:spcBef>
              <a:buSzPct val="100000"/>
              <a:buNone/>
            </a:pPr>
            <a:endParaRPr lang="en-US" sz="1600" dirty="0">
              <a:ea typeface="Cambria" panose="02040503050406030204" pitchFamily="18" charset="0"/>
            </a:endParaRPr>
          </a:p>
          <a:p>
            <a:pPr marL="342900" lvl="0" indent="-190500" algn="just">
              <a:spcBef>
                <a:spcPts val="0"/>
              </a:spcBef>
              <a:buSzPct val="100000"/>
              <a:buNone/>
            </a:pPr>
            <a:endParaRPr lang="en-US" sz="1600" dirty="0">
              <a:ea typeface="Cambria" panose="02040503050406030204" pitchFamily="18" charset="0"/>
            </a:endParaRPr>
          </a:p>
          <a:p>
            <a:pPr marL="342900" lvl="0" indent="-190500" algn="just">
              <a:lnSpc>
                <a:spcPct val="200000"/>
              </a:lnSpc>
              <a:spcBef>
                <a:spcPts val="0"/>
              </a:spcBef>
              <a:buSzPct val="100000"/>
              <a:buNone/>
            </a:pPr>
            <a:endParaRPr lang="en-US" sz="1600" dirty="0">
              <a:ea typeface="Cambria" panose="02040503050406030204" pitchFamily="18" charset="0"/>
            </a:endParaRPr>
          </a:p>
          <a:p>
            <a:pPr marL="342900" lvl="0" indent="-190500" algn="just">
              <a:lnSpc>
                <a:spcPct val="200000"/>
              </a:lnSpc>
              <a:spcBef>
                <a:spcPts val="0"/>
              </a:spcBef>
              <a:buSzPct val="100000"/>
              <a:buNone/>
            </a:pPr>
            <a:endParaRPr lang="en-US" sz="1600" dirty="0">
              <a:ea typeface="Cambria" panose="02040503050406030204" pitchFamily="18" charset="0"/>
            </a:endParaRPr>
          </a:p>
          <a:p>
            <a:pPr marL="342900" lvl="0" indent="-190500" algn="just">
              <a:lnSpc>
                <a:spcPct val="200000"/>
              </a:lnSpc>
              <a:spcBef>
                <a:spcPts val="0"/>
              </a:spcBef>
              <a:buSzPct val="100000"/>
              <a:buNone/>
            </a:pPr>
            <a:endParaRPr lang="en-US" sz="1600" dirty="0">
              <a:ea typeface="Cambria" panose="02040503050406030204" pitchFamily="18" charset="0"/>
            </a:endParaRPr>
          </a:p>
          <a:p>
            <a:pPr marL="76200" indent="0">
              <a:buNone/>
            </a:pPr>
            <a:endParaRPr lang="en-IN" sz="1600" dirty="0">
              <a:latin typeface="+mj-lt"/>
            </a:endParaRPr>
          </a:p>
        </p:txBody>
      </p:sp>
    </p:spTree>
    <p:extLst>
      <p:ext uri="{BB962C8B-B14F-4D97-AF65-F5344CB8AC3E}">
        <p14:creationId xmlns:p14="http://schemas.microsoft.com/office/powerpoint/2010/main" val="2509841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1830-9627-1487-A166-456852DFCBCC}"/>
              </a:ext>
            </a:extLst>
          </p:cNvPr>
          <p:cNvSpPr>
            <a:spLocks noGrp="1"/>
          </p:cNvSpPr>
          <p:nvPr>
            <p:ph type="title"/>
          </p:nvPr>
        </p:nvSpPr>
        <p:spPr/>
        <p:txBody>
          <a:bodyPr/>
          <a:lstStyle/>
          <a:p>
            <a:r>
              <a:rPr lang="en-IN" dirty="0"/>
              <a:t>Timeline </a:t>
            </a:r>
          </a:p>
        </p:txBody>
      </p:sp>
      <p:sp>
        <p:nvSpPr>
          <p:cNvPr id="3" name="Text Placeholder 2">
            <a:extLst>
              <a:ext uri="{FF2B5EF4-FFF2-40B4-BE49-F238E27FC236}">
                <a16:creationId xmlns:a16="http://schemas.microsoft.com/office/drawing/2014/main" id="{15A39DD4-1E03-1EEC-588D-E557FBC85FF6}"/>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2A70E9D-3FA9-B376-C3AF-C201B0219E91}"/>
              </a:ext>
            </a:extLst>
          </p:cNvPr>
          <p:cNvPicPr>
            <a:picLocks noChangeAspect="1"/>
          </p:cNvPicPr>
          <p:nvPr/>
        </p:nvPicPr>
        <p:blipFill>
          <a:blip r:embed="rId2"/>
          <a:stretch>
            <a:fillRect/>
          </a:stretch>
        </p:blipFill>
        <p:spPr>
          <a:xfrm>
            <a:off x="920676" y="1143001"/>
            <a:ext cx="10023844" cy="4953000"/>
          </a:xfrm>
          <a:prstGeom prst="rect">
            <a:avLst/>
          </a:prstGeom>
        </p:spPr>
      </p:pic>
    </p:spTree>
    <p:extLst>
      <p:ext uri="{BB962C8B-B14F-4D97-AF65-F5344CB8AC3E}">
        <p14:creationId xmlns:p14="http://schemas.microsoft.com/office/powerpoint/2010/main" val="1425500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B7B3-1065-9602-4615-23C8A6F26F56}"/>
              </a:ext>
            </a:extLst>
          </p:cNvPr>
          <p:cNvSpPr>
            <a:spLocks noGrp="1"/>
          </p:cNvSpPr>
          <p:nvPr>
            <p:ph type="title"/>
          </p:nvPr>
        </p:nvSpPr>
        <p:spPr/>
        <p:txBody>
          <a:bodyPr/>
          <a:lstStyle/>
          <a:p>
            <a:r>
              <a:rPr lang="en-IN" dirty="0"/>
              <a:t>Hardware &amp; Software</a:t>
            </a:r>
          </a:p>
        </p:txBody>
      </p:sp>
      <p:graphicFrame>
        <p:nvGraphicFramePr>
          <p:cNvPr id="4" name="Table 3">
            <a:extLst>
              <a:ext uri="{FF2B5EF4-FFF2-40B4-BE49-F238E27FC236}">
                <a16:creationId xmlns:a16="http://schemas.microsoft.com/office/drawing/2014/main" id="{EF180891-49FC-042F-9F4B-5B03BD41287C}"/>
              </a:ext>
            </a:extLst>
          </p:cNvPr>
          <p:cNvGraphicFramePr>
            <a:graphicFrameLocks noGrp="1"/>
          </p:cNvGraphicFramePr>
          <p:nvPr>
            <p:extLst>
              <p:ext uri="{D42A27DB-BD31-4B8C-83A1-F6EECF244321}">
                <p14:modId xmlns:p14="http://schemas.microsoft.com/office/powerpoint/2010/main" val="3291190749"/>
              </p:ext>
            </p:extLst>
          </p:nvPr>
        </p:nvGraphicFramePr>
        <p:xfrm>
          <a:off x="1018094" y="1395168"/>
          <a:ext cx="5929460" cy="4366967"/>
        </p:xfrm>
        <a:graphic>
          <a:graphicData uri="http://schemas.openxmlformats.org/drawingml/2006/table">
            <a:tbl>
              <a:tblPr firstRow="1" firstCol="1" bandRow="1"/>
              <a:tblGrid>
                <a:gridCol w="1768447">
                  <a:extLst>
                    <a:ext uri="{9D8B030D-6E8A-4147-A177-3AD203B41FA5}">
                      <a16:colId xmlns:a16="http://schemas.microsoft.com/office/drawing/2014/main" val="585846117"/>
                    </a:ext>
                  </a:extLst>
                </a:gridCol>
                <a:gridCol w="4161013">
                  <a:extLst>
                    <a:ext uri="{9D8B030D-6E8A-4147-A177-3AD203B41FA5}">
                      <a16:colId xmlns:a16="http://schemas.microsoft.com/office/drawing/2014/main" val="3065037968"/>
                    </a:ext>
                  </a:extLst>
                </a:gridCol>
              </a:tblGrid>
              <a:tr h="434690">
                <a:tc>
                  <a:txBody>
                    <a:bodyPr/>
                    <a:lstStyle/>
                    <a:p>
                      <a:pPr>
                        <a:lnSpc>
                          <a:spcPct val="107000"/>
                        </a:lnSpc>
                        <a:spcAft>
                          <a:spcPts val="800"/>
                        </a:spcAft>
                        <a:buNone/>
                      </a:pPr>
                      <a:r>
                        <a:rPr lang="en-US" sz="1200" b="1">
                          <a:solidFill>
                            <a:srgbClr val="000000"/>
                          </a:solidFill>
                          <a:effectLst/>
                          <a:latin typeface="Calibri" panose="020F0502020204030204" pitchFamily="34" charset="0"/>
                          <a:ea typeface="Calibri" panose="020F0502020204030204" pitchFamily="34" charset="0"/>
                          <a:cs typeface="Calibri" panose="020F0502020204030204" pitchFamily="34" charset="0"/>
                        </a:rPr>
                        <a:t>Category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b="1">
                          <a:effectLst/>
                          <a:latin typeface="Calibri" panose="020F0502020204030204" pitchFamily="34" charset="0"/>
                          <a:ea typeface="Calibri" panose="020F0502020204030204" pitchFamily="34" charset="0"/>
                          <a:cs typeface="Calibri" panose="020F0502020204030204" pitchFamily="34" charset="0"/>
                        </a:rPr>
                        <a:t>Details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32123539"/>
                  </a:ext>
                </a:extLst>
              </a:tr>
              <a:tr h="434690">
                <a:tc>
                  <a:txBody>
                    <a:bodyPr/>
                    <a:lstStyle/>
                    <a:p>
                      <a:pPr>
                        <a:lnSpc>
                          <a:spcPct val="107000"/>
                        </a:lnSpc>
                        <a:spcAft>
                          <a:spcPts val="800"/>
                        </a:spcAft>
                        <a:buNone/>
                      </a:pP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Frontend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React.js (PWA), HTML5, CSS3, JavaScript (ES6+)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336041548"/>
                  </a:ext>
                </a:extLst>
              </a:tr>
              <a:tr h="434690">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Backend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Node.js, Express.js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40933495"/>
                  </a:ext>
                </a:extLst>
              </a:tr>
              <a:tr h="434690">
                <a:tc>
                  <a:txBody>
                    <a:bodyPr/>
                    <a:lstStyle/>
                    <a:p>
                      <a:pPr>
                        <a:lnSpc>
                          <a:spcPct val="107000"/>
                        </a:lnSpc>
                        <a:spcAft>
                          <a:spcPts val="800"/>
                        </a:spcAft>
                        <a:buNone/>
                      </a:pP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Database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rPr>
                        <a:t>MongoDB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212108678"/>
                  </a:ext>
                </a:extLst>
              </a:tr>
              <a:tr h="434690">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Authentication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JWT (JSON Web Tokens)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0792348"/>
                  </a:ext>
                </a:extLst>
              </a:tr>
              <a:tr h="434690">
                <a:tc>
                  <a:txBody>
                    <a:bodyPr/>
                    <a:lstStyle/>
                    <a:p>
                      <a:pPr>
                        <a:lnSpc>
                          <a:spcPct val="107000"/>
                        </a:lnSpc>
                        <a:spcAft>
                          <a:spcPts val="800"/>
                        </a:spcAft>
                        <a:buNone/>
                      </a:pP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Version Control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rPr>
                        <a:t>Git, GitHub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16285318"/>
                  </a:ext>
                </a:extLst>
              </a:tr>
              <a:tr h="434690">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Development Tools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VS Code, Postman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3433646"/>
                  </a:ext>
                </a:extLst>
              </a:tr>
              <a:tr h="434690">
                <a:tc>
                  <a:txBody>
                    <a:bodyPr/>
                    <a:lstStyle/>
                    <a:p>
                      <a:pPr>
                        <a:lnSpc>
                          <a:spcPct val="107000"/>
                        </a:lnSpc>
                        <a:spcAft>
                          <a:spcPts val="800"/>
                        </a:spcAft>
                        <a:buNone/>
                      </a:pPr>
                      <a:r>
                        <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rPr>
                        <a:t>Hosting Platform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07000"/>
                        </a:lnSpc>
                        <a:spcAft>
                          <a:spcPts val="800"/>
                        </a:spcAft>
                        <a:buNone/>
                      </a:pPr>
                      <a:r>
                        <a:rPr lang="en-US" sz="1200">
                          <a:solidFill>
                            <a:srgbClr val="000000"/>
                          </a:solidFill>
                          <a:effectLst/>
                          <a:latin typeface="Calibri" panose="020F0502020204030204" pitchFamily="34" charset="0"/>
                          <a:ea typeface="Calibri" panose="020F0502020204030204" pitchFamily="34" charset="0"/>
                          <a:cs typeface="Calibri" panose="020F0502020204030204" pitchFamily="34" charset="0"/>
                        </a:rPr>
                        <a:t>AWS EC2 / S3 or Google Cloud Platform (GCP)</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627973899"/>
                  </a:ext>
                </a:extLst>
              </a:tr>
              <a:tr h="889447">
                <a:tc>
                  <a:txBody>
                    <a:bodyPr/>
                    <a:lstStyle/>
                    <a:p>
                      <a:pPr>
                        <a:lnSpc>
                          <a:spcPct val="107000"/>
                        </a:lnSpc>
                        <a:spcAft>
                          <a:spcPts val="800"/>
                        </a:spcAft>
                        <a:buNone/>
                      </a:pPr>
                      <a:r>
                        <a:rPr lang="en-US" sz="1200">
                          <a:effectLst/>
                          <a:latin typeface="Calibri" panose="020F0502020204030204" pitchFamily="34" charset="0"/>
                          <a:ea typeface="Calibri" panose="020F0502020204030204" pitchFamily="34" charset="0"/>
                          <a:cs typeface="Calibri" panose="020F0502020204030204" pitchFamily="34" charset="0"/>
                        </a:rPr>
                        <a:t>End-User Hardware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Smartphones, Tablets, Desktops/Laptops with a modern browser (Chrome, Edge, Firefox) and internet connection.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62379357"/>
                  </a:ext>
                </a:extLst>
              </a:tr>
            </a:tbl>
          </a:graphicData>
        </a:graphic>
      </p:graphicFrame>
    </p:spTree>
    <p:extLst>
      <p:ext uri="{BB962C8B-B14F-4D97-AF65-F5344CB8AC3E}">
        <p14:creationId xmlns:p14="http://schemas.microsoft.com/office/powerpoint/2010/main" val="49111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88581-8481-6E8B-E8FF-8FAB28ADDCBA}"/>
              </a:ext>
            </a:extLst>
          </p:cNvPr>
          <p:cNvSpPr>
            <a:spLocks noGrp="1"/>
          </p:cNvSpPr>
          <p:nvPr>
            <p:ph type="title"/>
          </p:nvPr>
        </p:nvSpPr>
        <p:spPr/>
        <p:txBody>
          <a:bodyPr/>
          <a:lstStyle/>
          <a:p>
            <a:r>
              <a:rPr lang="en-IN" dirty="0"/>
              <a:t>References</a:t>
            </a:r>
          </a:p>
        </p:txBody>
      </p:sp>
      <p:sp>
        <p:nvSpPr>
          <p:cNvPr id="3" name="Text Placeholder 2">
            <a:extLst>
              <a:ext uri="{FF2B5EF4-FFF2-40B4-BE49-F238E27FC236}">
                <a16:creationId xmlns:a16="http://schemas.microsoft.com/office/drawing/2014/main" id="{850D771E-F13B-F105-D9E1-00BD4D3E79DD}"/>
              </a:ext>
            </a:extLst>
          </p:cNvPr>
          <p:cNvSpPr>
            <a:spLocks noGrp="1"/>
          </p:cNvSpPr>
          <p:nvPr>
            <p:ph type="body" idx="1"/>
          </p:nvPr>
        </p:nvSpPr>
        <p:spPr/>
        <p:txBody>
          <a:bodyPr>
            <a:normAutofit/>
          </a:bodyPr>
          <a:lstStyle/>
          <a:p>
            <a:pPr marL="533400" lvl="0" indent="-457200">
              <a:buFont typeface="+mj-lt"/>
              <a:buAutoNum type="arabicPeriod"/>
            </a:pPr>
            <a:r>
              <a:rPr lang="en-US" sz="1800" u="sng" dirty="0">
                <a:latin typeface="+mj-lt"/>
                <a:hlinkClick r:id="rId2"/>
              </a:rPr>
              <a:t>Ministry of Statistics and </a:t>
            </a:r>
            <a:r>
              <a:rPr lang="en-US" sz="1800" u="sng" dirty="0" err="1">
                <a:latin typeface="+mj-lt"/>
                <a:hlinkClick r:id="rId2"/>
              </a:rPr>
              <a:t>Programme</a:t>
            </a:r>
            <a:r>
              <a:rPr lang="en-US" sz="1800" u="sng" dirty="0">
                <a:latin typeface="+mj-lt"/>
                <a:hlinkClick r:id="rId2"/>
              </a:rPr>
              <a:t> Implementation. (2021). Report on Persons with Disabilities in India.</a:t>
            </a:r>
            <a:r>
              <a:rPr lang="en-IN" sz="1800" dirty="0">
                <a:latin typeface="+mj-lt"/>
              </a:rPr>
              <a:t> </a:t>
            </a:r>
          </a:p>
          <a:p>
            <a:pPr marL="533400" lvl="0" indent="-457200">
              <a:buFont typeface="+mj-lt"/>
              <a:buAutoNum type="arabicPeriod"/>
            </a:pPr>
            <a:r>
              <a:rPr lang="en-US" sz="1800" u="sng" dirty="0">
                <a:latin typeface="+mj-lt"/>
                <a:hlinkClick r:id="rId3"/>
              </a:rPr>
              <a:t>Government of India. (2016). The Rights of Persons with Disabilities Act.</a:t>
            </a:r>
            <a:endParaRPr lang="en-IN" sz="1800" dirty="0">
              <a:latin typeface="+mj-lt"/>
            </a:endParaRPr>
          </a:p>
          <a:p>
            <a:pPr marL="533400" lvl="0" indent="-457200">
              <a:buFont typeface="+mj-lt"/>
              <a:buAutoNum type="arabicPeriod"/>
            </a:pPr>
            <a:r>
              <a:rPr lang="en-US" sz="1800" u="sng" dirty="0">
                <a:latin typeface="+mj-lt"/>
                <a:hlinkClick r:id="rId4"/>
              </a:rPr>
              <a:t>World Health Organization. (2019). Global Report on Disability.</a:t>
            </a:r>
            <a:endParaRPr lang="en-IN" sz="1800" dirty="0">
              <a:latin typeface="+mj-lt"/>
            </a:endParaRPr>
          </a:p>
          <a:p>
            <a:pPr marL="533400" lvl="0" indent="-457200">
              <a:buFont typeface="+mj-lt"/>
              <a:buAutoNum type="arabicPeriod"/>
            </a:pPr>
            <a:r>
              <a:rPr lang="en-US" sz="1800" u="sng" dirty="0">
                <a:latin typeface="+mj-lt"/>
                <a:hlinkClick r:id="rId5"/>
              </a:rPr>
              <a:t>Dr. D. P. Sharma, "Digital Inclusion of </a:t>
            </a:r>
            <a:r>
              <a:rPr lang="en-US" sz="1800" u="sng" dirty="0" err="1">
                <a:latin typeface="+mj-lt"/>
                <a:hlinkClick r:id="rId5"/>
              </a:rPr>
              <a:t>PwDs</a:t>
            </a:r>
            <a:r>
              <a:rPr lang="en-US" sz="1800" u="sng" dirty="0">
                <a:latin typeface="+mj-lt"/>
                <a:hlinkClick r:id="rId5"/>
              </a:rPr>
              <a:t> in India," in IEEE Access, vol. 10, 2022.</a:t>
            </a:r>
            <a:endParaRPr lang="en-IN" sz="1800" dirty="0">
              <a:latin typeface="+mj-lt"/>
            </a:endParaRPr>
          </a:p>
          <a:p>
            <a:pPr marL="533400" lvl="0" indent="-457200">
              <a:buFont typeface="+mj-lt"/>
              <a:buAutoNum type="arabicPeriod"/>
            </a:pPr>
            <a:r>
              <a:rPr lang="en-US" sz="1800" u="sng" dirty="0">
                <a:latin typeface="+mj-lt"/>
                <a:hlinkClick r:id="rId6"/>
              </a:rPr>
              <a:t>S. Gupta, "Inclusive Employment Platforms for Persons with Disabilities," Springer,021.</a:t>
            </a:r>
            <a:endParaRPr lang="en-IN" sz="1800" dirty="0">
              <a:latin typeface="+mj-lt"/>
            </a:endParaRPr>
          </a:p>
          <a:p>
            <a:pPr marL="533400" lvl="0" indent="-457200">
              <a:buFont typeface="+mj-lt"/>
              <a:buAutoNum type="arabicPeriod"/>
            </a:pPr>
            <a:r>
              <a:rPr lang="en-US" sz="1800" u="sng" dirty="0">
                <a:latin typeface="+mj-lt"/>
                <a:hlinkClick r:id="rId7"/>
              </a:rPr>
              <a:t>Darcy, S., &amp; Taylor, T. (2009). Disability citizenship and digital capital: The case of web accessibility.</a:t>
            </a:r>
            <a:endParaRPr lang="en-IN" sz="1800" dirty="0">
              <a:latin typeface="+mj-lt"/>
            </a:endParaRPr>
          </a:p>
          <a:p>
            <a:pPr marL="533400" lvl="0" indent="-457200">
              <a:buFont typeface="+mj-lt"/>
              <a:buAutoNum type="arabicPeriod"/>
            </a:pPr>
            <a:r>
              <a:rPr lang="en-US" sz="1800" u="sng" dirty="0">
                <a:latin typeface="+mj-lt"/>
                <a:hlinkClick r:id="rId8"/>
              </a:rPr>
              <a:t>Lazar, J., et al. (2015). What Frustrates Screen Reader Users on the Web: A Study of 100 Blind Users.</a:t>
            </a:r>
            <a:endParaRPr lang="en-IN" sz="1800" dirty="0">
              <a:latin typeface="+mj-lt"/>
            </a:endParaRPr>
          </a:p>
          <a:p>
            <a:pPr marL="533400" lvl="0" indent="-457200">
              <a:buFont typeface="+mj-lt"/>
              <a:buAutoNum type="arabicPeriod"/>
            </a:pPr>
            <a:r>
              <a:rPr lang="en-US" sz="1800" u="sng" dirty="0">
                <a:latin typeface="+mj-lt"/>
                <a:hlinkClick r:id="rId9"/>
              </a:rPr>
              <a:t>Bühler, C., &amp; Heck, H. (2001). Empowerment by Digital Media of People with Disabilities.</a:t>
            </a:r>
            <a:endParaRPr lang="en-IN" sz="1800" dirty="0">
              <a:latin typeface="+mj-lt"/>
            </a:endParaRPr>
          </a:p>
          <a:p>
            <a:pPr marL="533400" lvl="0" indent="-457200">
              <a:buFont typeface="+mj-lt"/>
              <a:buAutoNum type="arabicPeriod"/>
            </a:pPr>
            <a:r>
              <a:rPr lang="en-US" sz="1800" u="sng" dirty="0">
                <a:latin typeface="+mj-lt"/>
                <a:hlinkClick r:id="rId10"/>
              </a:rPr>
              <a:t>Kumar, A., &amp; Singh, P. (2020). A Study on Challenges Faced by Persons with Disabilities in India in Accessing Employment.</a:t>
            </a:r>
            <a:endParaRPr lang="en-IN" sz="1800" dirty="0">
              <a:latin typeface="+mj-lt"/>
            </a:endParaRPr>
          </a:p>
          <a:p>
            <a:pPr marL="533400" lvl="0" indent="-457200">
              <a:buFont typeface="+mj-lt"/>
              <a:buAutoNum type="arabicPeriod"/>
            </a:pPr>
            <a:r>
              <a:rPr lang="en-US" sz="1800" u="sng" dirty="0">
                <a:latin typeface="+mj-lt"/>
                <a:hlinkClick r:id="rId11"/>
              </a:rPr>
              <a:t>W3C Web Accessibility Initiative (WAI). Web Content Accessibility Guidelines (WCAG) 2.1.</a:t>
            </a:r>
            <a:endParaRPr lang="en-IN" sz="1800" dirty="0">
              <a:latin typeface="+mj-lt"/>
            </a:endParaRPr>
          </a:p>
          <a:p>
            <a:endParaRPr lang="en-IN" sz="1800" dirty="0">
              <a:latin typeface="+mj-lt"/>
            </a:endParaRPr>
          </a:p>
        </p:txBody>
      </p:sp>
    </p:spTree>
    <p:extLst>
      <p:ext uri="{BB962C8B-B14F-4D97-AF65-F5344CB8AC3E}">
        <p14:creationId xmlns:p14="http://schemas.microsoft.com/office/powerpoint/2010/main" val="3261624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B94E3-BAE9-5EAF-B765-848893845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D3F7F-0867-62F8-2907-FC411043EB3C}"/>
              </a:ext>
            </a:extLst>
          </p:cNvPr>
          <p:cNvSpPr>
            <a:spLocks noGrp="1"/>
          </p:cNvSpPr>
          <p:nvPr>
            <p:ph type="title"/>
          </p:nvPr>
        </p:nvSpPr>
        <p:spPr/>
        <p:txBody>
          <a:bodyPr/>
          <a:lstStyle/>
          <a:p>
            <a:r>
              <a:rPr lang="en-US" dirty="0"/>
              <a:t>F</a:t>
            </a:r>
            <a:r>
              <a:rPr lang="en-IN" dirty="0" err="1"/>
              <a:t>uture</a:t>
            </a:r>
            <a:r>
              <a:rPr lang="en-IN" dirty="0"/>
              <a:t> Work</a:t>
            </a:r>
          </a:p>
        </p:txBody>
      </p:sp>
      <p:sp>
        <p:nvSpPr>
          <p:cNvPr id="5" name="Rectangle 2">
            <a:extLst>
              <a:ext uri="{FF2B5EF4-FFF2-40B4-BE49-F238E27FC236}">
                <a16:creationId xmlns:a16="http://schemas.microsoft.com/office/drawing/2014/main" id="{9B8B42B4-2BA5-024F-FEE4-D89D21CCE295}"/>
              </a:ext>
            </a:extLst>
          </p:cNvPr>
          <p:cNvSpPr>
            <a:spLocks noGrp="1" noChangeArrowheads="1"/>
          </p:cNvSpPr>
          <p:nvPr>
            <p:ph type="body" idx="1"/>
          </p:nvPr>
        </p:nvSpPr>
        <p:spPr bwMode="auto">
          <a:xfrm>
            <a:off x="723375" y="1233329"/>
            <a:ext cx="1074524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Add </a:t>
            </a:r>
            <a:r>
              <a:rPr kumimoji="0" lang="en-US" altLang="en-US" sz="1800" b="1" i="0" u="none" strike="noStrike" cap="none" normalizeH="0" baseline="0" dirty="0">
                <a:ln>
                  <a:noFill/>
                </a:ln>
                <a:solidFill>
                  <a:schemeClr val="tx1"/>
                </a:solidFill>
                <a:effectLst/>
                <a:latin typeface="Arial" panose="020B0604020202020204" pitchFamily="34" charset="0"/>
              </a:rPr>
              <a:t>smart job suggestions</a:t>
            </a:r>
            <a:r>
              <a:rPr kumimoji="0" lang="en-US" altLang="en-US" sz="1800" b="0" i="0" u="none" strike="noStrike" cap="none" normalizeH="0" baseline="0" dirty="0">
                <a:ln>
                  <a:noFill/>
                </a:ln>
                <a:solidFill>
                  <a:schemeClr val="tx1"/>
                </a:solidFill>
                <a:effectLst/>
                <a:latin typeface="Arial" panose="020B0604020202020204" pitchFamily="34" charset="0"/>
              </a:rPr>
              <a:t> using AI, so users see jobs that fit their skills.</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Improve </a:t>
            </a:r>
            <a:r>
              <a:rPr kumimoji="0" lang="en-US" altLang="en-US" sz="1800" b="1" i="0" u="none" strike="noStrike" cap="none" normalizeH="0" baseline="0" dirty="0">
                <a:ln>
                  <a:noFill/>
                </a:ln>
                <a:solidFill>
                  <a:schemeClr val="tx1"/>
                </a:solidFill>
                <a:effectLst/>
                <a:latin typeface="Arial" panose="020B0604020202020204" pitchFamily="34" charset="0"/>
              </a:rPr>
              <a:t>accessibility features</a:t>
            </a:r>
            <a:r>
              <a:rPr kumimoji="0" lang="en-US" altLang="en-US" sz="1800" b="0" i="0" u="none" strike="noStrike" cap="none" normalizeH="0" baseline="0" dirty="0">
                <a:ln>
                  <a:noFill/>
                </a:ln>
                <a:solidFill>
                  <a:schemeClr val="tx1"/>
                </a:solidFill>
                <a:effectLst/>
                <a:latin typeface="Arial" panose="020B0604020202020204" pitchFamily="34" charset="0"/>
              </a:rPr>
              <a:t> like sign-language support, voice commands, and simple navigation.</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Allow </a:t>
            </a:r>
            <a:r>
              <a:rPr kumimoji="0" lang="en-US" altLang="en-US" sz="1800" b="1" i="0" u="none" strike="noStrike" cap="none" normalizeH="0" baseline="0" dirty="0">
                <a:ln>
                  <a:noFill/>
                </a:ln>
                <a:solidFill>
                  <a:schemeClr val="tx1"/>
                </a:solidFill>
                <a:effectLst/>
                <a:latin typeface="Arial" panose="020B0604020202020204" pitchFamily="34" charset="0"/>
              </a:rPr>
              <a:t>offline job applications</a:t>
            </a:r>
            <a:r>
              <a:rPr kumimoji="0" lang="en-US" altLang="en-US" sz="1800" b="0" i="0" u="none" strike="noStrike" cap="none" normalizeH="0" baseline="0" dirty="0">
                <a:ln>
                  <a:noFill/>
                </a:ln>
                <a:solidFill>
                  <a:schemeClr val="tx1"/>
                </a:solidFill>
                <a:effectLst/>
                <a:latin typeface="Arial" panose="020B0604020202020204" pitchFamily="34" charset="0"/>
              </a:rPr>
              <a:t>, which will automatically submit when the internet is back.</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Work with </a:t>
            </a:r>
            <a:r>
              <a:rPr kumimoji="0" lang="en-US" altLang="en-US" sz="1800" b="1" i="0" u="none" strike="noStrike" cap="none" normalizeH="0" baseline="0" dirty="0">
                <a:ln>
                  <a:noFill/>
                </a:ln>
                <a:solidFill>
                  <a:schemeClr val="tx1"/>
                </a:solidFill>
                <a:effectLst/>
                <a:latin typeface="Arial" panose="020B0604020202020204" pitchFamily="34" charset="0"/>
              </a:rPr>
              <a:t>government portals and NGOs</a:t>
            </a:r>
            <a:r>
              <a:rPr kumimoji="0" lang="en-US" altLang="en-US" sz="1800" b="0" i="0" u="none" strike="noStrike" cap="none" normalizeH="0" baseline="0" dirty="0">
                <a:ln>
                  <a:noFill/>
                </a:ln>
                <a:solidFill>
                  <a:schemeClr val="tx1"/>
                </a:solidFill>
                <a:effectLst/>
                <a:latin typeface="Arial" panose="020B0604020202020204" pitchFamily="34" charset="0"/>
              </a:rPr>
              <a:t> to bring in more job opportunities.</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Create a </a:t>
            </a:r>
            <a:r>
              <a:rPr kumimoji="0" lang="en-US" altLang="en-US" sz="1800" b="1" i="0" u="none" strike="noStrike" cap="none" normalizeH="0" baseline="0" dirty="0">
                <a:ln>
                  <a:noFill/>
                </a:ln>
                <a:solidFill>
                  <a:schemeClr val="tx1"/>
                </a:solidFill>
                <a:effectLst/>
                <a:latin typeface="Arial" panose="020B0604020202020204" pitchFamily="34" charset="0"/>
              </a:rPr>
              <a:t>dashboard with insights</a:t>
            </a:r>
            <a:r>
              <a:rPr kumimoji="0" lang="en-US" altLang="en-US" sz="1800" b="0" i="0" u="none" strike="noStrike" cap="none" normalizeH="0" baseline="0" dirty="0">
                <a:ln>
                  <a:noFill/>
                </a:ln>
                <a:solidFill>
                  <a:schemeClr val="tx1"/>
                </a:solidFill>
                <a:effectLst/>
                <a:latin typeface="Arial" panose="020B0604020202020204" pitchFamily="34" charset="0"/>
              </a:rPr>
              <a:t> to help policymakers and NGOs understand user needs better.</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Build </a:t>
            </a:r>
            <a:r>
              <a:rPr kumimoji="0" lang="en-US" altLang="en-US" sz="1800" b="1" i="0" u="none" strike="noStrike" cap="none" normalizeH="0" baseline="0" dirty="0">
                <a:ln>
                  <a:noFill/>
                </a:ln>
                <a:solidFill>
                  <a:schemeClr val="tx1"/>
                </a:solidFill>
                <a:effectLst/>
                <a:latin typeface="Arial" panose="020B0604020202020204" pitchFamily="34" charset="0"/>
              </a:rPr>
              <a:t>mobile apps</a:t>
            </a:r>
            <a:r>
              <a:rPr kumimoji="0" lang="en-US" altLang="en-US" sz="1800" b="0" i="0" u="none" strike="noStrike" cap="none" normalizeH="0" baseline="0" dirty="0">
                <a:ln>
                  <a:noFill/>
                </a:ln>
                <a:solidFill>
                  <a:schemeClr val="tx1"/>
                </a:solidFill>
                <a:effectLst/>
                <a:latin typeface="Arial" panose="020B0604020202020204" pitchFamily="34" charset="0"/>
              </a:rPr>
              <a:t> for Android and iOS for easier access</a:t>
            </a:r>
          </a:p>
        </p:txBody>
      </p:sp>
    </p:spTree>
    <p:extLst>
      <p:ext uri="{BB962C8B-B14F-4D97-AF65-F5344CB8AC3E}">
        <p14:creationId xmlns:p14="http://schemas.microsoft.com/office/powerpoint/2010/main" val="3669738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43BFC-4E01-0F5F-0DB7-DD3527F90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65EA7-5F13-7C33-C595-33F783E6B908}"/>
              </a:ext>
            </a:extLst>
          </p:cNvPr>
          <p:cNvSpPr>
            <a:spLocks noGrp="1"/>
          </p:cNvSpPr>
          <p:nvPr>
            <p:ph type="title"/>
          </p:nvPr>
        </p:nvSpPr>
        <p:spPr/>
        <p:txBody>
          <a:bodyPr/>
          <a:lstStyle/>
          <a:p>
            <a:r>
              <a:rPr lang="en-US" dirty="0"/>
              <a:t>C</a:t>
            </a:r>
            <a:r>
              <a:rPr lang="en-IN" dirty="0" err="1"/>
              <a:t>onclusion</a:t>
            </a:r>
            <a:endParaRPr lang="en-IN" dirty="0"/>
          </a:p>
        </p:txBody>
      </p:sp>
      <p:sp>
        <p:nvSpPr>
          <p:cNvPr id="3" name="Text Placeholder 2">
            <a:extLst>
              <a:ext uri="{FF2B5EF4-FFF2-40B4-BE49-F238E27FC236}">
                <a16:creationId xmlns:a16="http://schemas.microsoft.com/office/drawing/2014/main" id="{E3270C19-B7E5-62A0-6BBE-09F9FD55A069}"/>
              </a:ext>
            </a:extLst>
          </p:cNvPr>
          <p:cNvSpPr>
            <a:spLocks noGrp="1"/>
          </p:cNvSpPr>
          <p:nvPr>
            <p:ph type="body" idx="1"/>
          </p:nvPr>
        </p:nvSpPr>
        <p:spPr/>
        <p:txBody>
          <a:bodyPr>
            <a:normAutofit/>
          </a:bodyPr>
          <a:lstStyle/>
          <a:p>
            <a:r>
              <a:rPr lang="en-US" sz="1800" dirty="0">
                <a:latin typeface="+mj-lt"/>
              </a:rPr>
              <a:t>This project introduces an inclusive job portal PWA for Persons with Disabilities (PwDs) that solves problems of inaccessible job information, lack of awareness, and low digital literacy. Using the MERN stack, it provides offline access, real-time notifications, multilingual support, and text-to-speech to make job opportunities more accessible. The system ensures usability even without internet and delivers timely updates from government job sources. In the future, features like AI-based job suggestions, better accessibility tools, offline job applications, and mobile apps can make the platform even stronger. Overall, it is a practical and impactful solution to bridge the employment gap for PwDs.</a:t>
            </a:r>
            <a:endParaRPr lang="en-IN" sz="1800" dirty="0">
              <a:latin typeface="+mj-lt"/>
            </a:endParaRPr>
          </a:p>
        </p:txBody>
      </p:sp>
    </p:spTree>
    <p:extLst>
      <p:ext uri="{BB962C8B-B14F-4D97-AF65-F5344CB8AC3E}">
        <p14:creationId xmlns:p14="http://schemas.microsoft.com/office/powerpoint/2010/main" val="75002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D569BF14-CA48-1A37-B81C-00CA449D6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11C7E9-1024-B95D-2A80-0E57821D484B}"/>
              </a:ext>
            </a:extLst>
          </p:cNvPr>
          <p:cNvPicPr>
            <a:picLocks noChangeAspect="1"/>
          </p:cNvPicPr>
          <p:nvPr/>
        </p:nvPicPr>
        <p:blipFill>
          <a:blip r:embed="rId3"/>
          <a:stretch>
            <a:fillRect/>
          </a:stretch>
        </p:blipFill>
        <p:spPr>
          <a:xfrm>
            <a:off x="4082811" y="1441315"/>
            <a:ext cx="3893305" cy="3935471"/>
          </a:xfrm>
          <a:prstGeom prst="rect">
            <a:avLst/>
          </a:prstGeom>
        </p:spPr>
      </p:pic>
    </p:spTree>
    <p:extLst>
      <p:ext uri="{BB962C8B-B14F-4D97-AF65-F5344CB8AC3E}">
        <p14:creationId xmlns:p14="http://schemas.microsoft.com/office/powerpoint/2010/main" val="3238524035"/>
      </p:ext>
    </p:extLst>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1897</Words>
  <Application>Microsoft Office PowerPoint</Application>
  <PresentationFormat>Widescreen</PresentationFormat>
  <Paragraphs>187</Paragraphs>
  <Slides>20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Verdana</vt:lpstr>
      <vt:lpstr>Wingdings</vt:lpstr>
      <vt:lpstr>Bioinformatics</vt:lpstr>
      <vt:lpstr>Udyog Saarthi (Progressive Web-based Application)</vt:lpstr>
      <vt:lpstr>Content</vt:lpstr>
      <vt:lpstr>Problem Statement Number: PSCS-39 </vt:lpstr>
      <vt:lpstr>Literature Survey</vt:lpstr>
      <vt:lpstr>Objectives</vt:lpstr>
      <vt:lpstr>Existing methods &amp; Drawbacks </vt:lpstr>
      <vt:lpstr>Proposed method &amp; Feasibility study</vt:lpstr>
      <vt:lpstr>Architecture Diagram</vt:lpstr>
      <vt:lpstr>Architecture Diagram continue…….</vt:lpstr>
      <vt:lpstr>Algorithm </vt:lpstr>
      <vt:lpstr>Github repository</vt:lpstr>
      <vt:lpstr>Ui/ux</vt:lpstr>
      <vt:lpstr>Modules</vt:lpstr>
      <vt:lpstr>Background and Related work for title Selection </vt:lpstr>
      <vt:lpstr>Timeline </vt:lpstr>
      <vt:lpstr>Hardware &amp; Software</vt:lpstr>
      <vt:lpstr>References</vt:lpstr>
      <vt:lpstr>Future Work</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Priyanka G</cp:lastModifiedBy>
  <cp:revision>44</cp:revision>
  <dcterms:modified xsi:type="dcterms:W3CDTF">2025-09-26T09:52:36Z</dcterms:modified>
</cp:coreProperties>
</file>